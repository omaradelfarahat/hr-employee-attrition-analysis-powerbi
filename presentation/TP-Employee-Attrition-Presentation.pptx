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3" r:id="rId4"/>
  </p:sldMasterIdLst>
  <p:notesMasterIdLst>
    <p:notesMasterId r:id="rId18"/>
  </p:notesMasterIdLst>
  <p:handoutMasterIdLst>
    <p:handoutMasterId r:id="rId19"/>
  </p:handoutMasterIdLst>
  <p:sldIdLst>
    <p:sldId id="276" r:id="rId5"/>
    <p:sldId id="301" r:id="rId6"/>
    <p:sldId id="331" r:id="rId7"/>
    <p:sldId id="325" r:id="rId8"/>
    <p:sldId id="281" r:id="rId9"/>
    <p:sldId id="312" r:id="rId10"/>
    <p:sldId id="333" r:id="rId11"/>
    <p:sldId id="334" r:id="rId12"/>
    <p:sldId id="335" r:id="rId13"/>
    <p:sldId id="338" r:id="rId14"/>
    <p:sldId id="319" r:id="rId15"/>
    <p:sldId id="308" r:id="rId16"/>
    <p:sldId id="29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2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2C1F"/>
    <a:srgbClr val="5C1A1D"/>
    <a:srgbClr val="B1B3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0048" autoAdjust="0"/>
  </p:normalViewPr>
  <p:slideViewPr>
    <p:cSldViewPr snapToGrid="0">
      <p:cViewPr varScale="1">
        <p:scale>
          <a:sx n="100" d="100"/>
          <a:sy n="100" d="100"/>
        </p:scale>
        <p:origin x="264" y="96"/>
      </p:cViewPr>
      <p:guideLst>
        <p:guide orient="horz" pos="2928"/>
        <p:guide pos="3840"/>
      </p:guideLst>
    </p:cSldViewPr>
  </p:slideViewPr>
  <p:outlineViewPr>
    <p:cViewPr>
      <p:scale>
        <a:sx n="33" d="100"/>
        <a:sy n="33" d="100"/>
      </p:scale>
      <p:origin x="0" y="-51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022A2D-42FA-4553-8772-8DAE87B769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D895D-FAE0-4BCC-A867-FF4B70D9BF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8A188-91E3-4091-B70E-E1E6D807C522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706EC-595E-4FD0-9EC4-968864CC93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99D8E-A980-43D3-BFB9-0812FFA36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EE72E-E5A5-44ED-A736-DB8D8EE9B4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174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02412-B176-4E06-823F-C66FEB3E21FB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42FC2-A162-47B3-989B-571A6241496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32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900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403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4B7AE-CF31-2540-9574-672F6D770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201CB0-13E1-2183-EE9C-8D98C2103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A4AEA-51DC-545E-D91D-CF054D761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C7F3D-E9F5-DBB3-A28C-5DCFFFBFE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568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32E8A-90D4-2618-B20D-A1EF6E27C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6DB16-A204-D3DB-FE29-DFBE74A7FE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99DBD-E09E-8FF2-5192-BEBAA98A4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6CF22-3E79-E01F-97A1-EA738D839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925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56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262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41687-CABD-88F0-EC97-B5840185B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582C9-88D3-AE21-6B17-875094FF2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93657A-0797-970A-0710-EC1C33867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20C65-F61A-10AB-5698-2471BE773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904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537BB-AC29-1C0B-21E5-A4AC50C47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5D0B34-EEA2-C243-6505-AAB319FFE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1490FE-6BF3-CC37-FF29-77BA07AD0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F9147-ABE6-06AC-EE07-C332D6C21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1553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A891C-454C-E207-BAD7-DF7F8C677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FCC671-6F07-B652-BFB3-63EA6A939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B281A1-3FDC-CFB1-5CC9-FE3F816C5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68F6A-2844-1B92-49CB-AE654874CA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282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D652B-538B-4584-5501-C808E35DF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C8AF1-206D-179D-DBDB-1B3378798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596CAB-55E2-DE15-56F2-26B7A8E54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0FA0F-65E9-4E7A-309A-A3032A396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6299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8978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4524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91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27619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67092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08775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2802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18732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2688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1261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34128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9318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5711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13770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97100" y="1079500"/>
            <a:ext cx="7797799" cy="2543594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8224D70-2CA9-3DC4-F002-EC470A48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8" name="Freeform: Shape 15">
              <a:extLst>
                <a:ext uri="{FF2B5EF4-FFF2-40B4-BE49-F238E27FC236}">
                  <a16:creationId xmlns:a16="http://schemas.microsoft.com/office/drawing/2014/main" id="{C0B1F33F-4201-2B4E-E8EC-1D07263083EB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ED5B178-0506-30BE-93BB-73C02006B988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0" name="Freeform: Shape 17">
                <a:extLst>
                  <a:ext uri="{FF2B5EF4-FFF2-40B4-BE49-F238E27FC236}">
                    <a16:creationId xmlns:a16="http://schemas.microsoft.com/office/drawing/2014/main" id="{B3F854F0-E9B7-2C32-CA3C-FA9719440768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8224CDA-DD93-0DF6-7DD9-8328D16060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FA5F65-B2C5-BB65-83E3-F195EEE49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26000" y="409908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725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777246"/>
            <a:ext cx="10058400" cy="1097280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2B970E0-2BF6-DE0A-33F2-E136830CC0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711243" y="2287435"/>
            <a:ext cx="8769514" cy="3768195"/>
          </a:xfrm>
        </p:spPr>
        <p:txBody>
          <a:bodyPr tIns="182880">
            <a:noAutofit/>
          </a:bodyPr>
          <a:lstStyle>
            <a:lvl1pPr marL="283464" indent="-283464">
              <a:lnSpc>
                <a:spcPct val="100000"/>
              </a:lnSpc>
              <a:spcBef>
                <a:spcPts val="1000"/>
              </a:spcBef>
              <a:defRPr sz="1800"/>
            </a:lvl1pPr>
            <a:lvl2pPr marL="283464">
              <a:lnSpc>
                <a:spcPct val="100000"/>
              </a:lnSpc>
              <a:spcBef>
                <a:spcPts val="1000"/>
              </a:spcBef>
              <a:defRPr sz="1800"/>
            </a:lvl2pPr>
            <a:lvl3pPr indent="-283464">
              <a:lnSpc>
                <a:spcPct val="100000"/>
              </a:lnSpc>
              <a:spcBef>
                <a:spcPts val="1000"/>
              </a:spcBef>
              <a:defRPr sz="1800"/>
            </a:lvl3pPr>
            <a:lvl4pPr>
              <a:lnSpc>
                <a:spcPct val="100000"/>
              </a:lnSpc>
              <a:spcBef>
                <a:spcPts val="1000"/>
              </a:spcBef>
              <a:defRPr sz="1800"/>
            </a:lvl4pPr>
            <a:lvl5pPr indent="-283464">
              <a:lnSpc>
                <a:spcPct val="1000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664AFF-309D-433B-B3F0-84A98A207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205740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2C7C83-D77B-1EFF-5877-DB5DF792E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163" y="548640"/>
            <a:ext cx="11109674" cy="57492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279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A45527-A259-1C6D-E8B4-514715484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245608"/>
            <a:ext cx="12192000" cy="3612392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3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548640"/>
            <a:ext cx="3886200" cy="2304288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ACBDB-D54B-994A-AD88-E89D37245FA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534660" y="548641"/>
            <a:ext cx="6130625" cy="2304288"/>
          </a:xfrm>
        </p:spPr>
        <p:txBody>
          <a:bodyPr anchor="ctr">
            <a:noAutofit/>
          </a:bodyPr>
          <a:lstStyle>
            <a:lvl1pPr marL="512064" indent="-5120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1pPr>
            <a:lvl2pPr marL="702900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2pPr>
            <a:lvl3pPr marL="1139436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3pPr>
            <a:lvl4pPr marL="1422900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4pPr>
            <a:lvl5pPr marL="1859436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D8447B1-F82E-026F-7FF0-7E95D361E7A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520387" y="3735238"/>
            <a:ext cx="6130625" cy="25741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2pPr>
            <a:lvl3pPr marL="6858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3pPr>
            <a:lvl4pPr marL="685800">
              <a:lnSpc>
                <a:spcPct val="100000"/>
              </a:lnSpc>
              <a:spcBef>
                <a:spcPts val="1000"/>
              </a:spcBef>
              <a:defRPr sz="1800" i="0"/>
            </a:lvl4pPr>
            <a:lvl5pPr indent="-283464"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476BAB9-3D46-228B-0268-9918F1524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4714750" y="169160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5123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6EF848A-75B5-49A0-A26E-E3931F22D9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26" y="539751"/>
            <a:ext cx="4451349" cy="2082226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D20A319-635D-423F-BBAC-55CDC17856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70326" y="4248000"/>
            <a:ext cx="4451349" cy="2082226"/>
          </a:xfrm>
        </p:spPr>
        <p:txBody>
          <a:bodyPr>
            <a:norm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1AFB269-EE5A-41D3-BCD6-D9F59CE69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54952" y="3043393"/>
            <a:ext cx="1481845" cy="787628"/>
            <a:chOff x="4987925" y="2840038"/>
            <a:chExt cx="2216150" cy="11779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5469245-EBD6-4BF4-B555-140F59F51604}"/>
                </a:ext>
              </a:extLst>
            </p:cNvPr>
            <p:cNvSpPr/>
            <p:nvPr/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69BCC58-7D38-43ED-B78C-2D780660AA2B}"/>
                </a:ext>
              </a:extLst>
            </p:cNvPr>
            <p:cNvSpPr/>
            <p:nvPr/>
          </p:nvSpPr>
          <p:spPr>
            <a:xfrm>
              <a:off x="5750208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A8F2EBB-150B-4044-A215-E7B7EAD7429A}"/>
                </a:ext>
              </a:extLst>
            </p:cNvPr>
            <p:cNvSpPr/>
            <p:nvPr/>
          </p:nvSpPr>
          <p:spPr>
            <a:xfrm flipH="1">
              <a:off x="5469335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3CC0AD8-7413-4C81-9A62-702945CC3BE8}"/>
                </a:ext>
              </a:extLst>
            </p:cNvPr>
            <p:cNvGrpSpPr/>
            <p:nvPr/>
          </p:nvGrpSpPr>
          <p:grpSpPr>
            <a:xfrm>
              <a:off x="5614944" y="3117662"/>
              <a:ext cx="1009280" cy="464739"/>
              <a:chOff x="4432859" y="3200647"/>
              <a:chExt cx="1009280" cy="464739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2502799B-0C00-4D54-A631-1E79EAA52AFC}"/>
                  </a:ext>
                </a:extLst>
              </p:cNvPr>
              <p:cNvSpPr/>
              <p:nvPr/>
            </p:nvSpPr>
            <p:spPr>
              <a:xfrm rot="16200000" flipH="1" flipV="1">
                <a:off x="4977400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64E9F509-6627-4770-8A74-970F83C54B15}"/>
                  </a:ext>
                </a:extLst>
              </p:cNvPr>
              <p:cNvSpPr/>
              <p:nvPr/>
            </p:nvSpPr>
            <p:spPr>
              <a:xfrm rot="5400000" flipV="1">
                <a:off x="4432859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C187A2A-8F72-40F1-B320-D3B624B54859}"/>
                </a:ext>
              </a:extLst>
            </p:cNvPr>
            <p:cNvGrpSpPr/>
            <p:nvPr/>
          </p:nvGrpSpPr>
          <p:grpSpPr>
            <a:xfrm>
              <a:off x="5679979" y="2915338"/>
              <a:ext cx="1080000" cy="1080000"/>
              <a:chOff x="4497894" y="2998323"/>
              <a:chExt cx="1080000" cy="1080000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38DCBEB-9435-4A10-828C-CBFA74A08708}"/>
                  </a:ext>
                </a:extLst>
              </p:cNvPr>
              <p:cNvGrpSpPr/>
              <p:nvPr/>
            </p:nvGrpSpPr>
            <p:grpSpPr>
              <a:xfrm rot="13500000">
                <a:off x="4805524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A8CE8E01-DABF-4783-A397-EDB1A91E2950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6401896A-2EF5-4843-9DC5-ECC0D6F6A7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FB7C02DC-3E0A-45D2-859A-86EB5A3CF979}"/>
                  </a:ext>
                </a:extLst>
              </p:cNvPr>
              <p:cNvGrpSpPr/>
              <p:nvPr/>
            </p:nvGrpSpPr>
            <p:grpSpPr>
              <a:xfrm rot="8100000" flipH="1">
                <a:off x="4542572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C5170D8C-ECD3-41D1-83F4-8C2A4AEC277D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BADB4C03-0F86-4580-B0C9-48DD4B3B67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25304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8415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9" r:id="rId13"/>
    <p:sldLayoutId id="2147483721" r:id="rId14"/>
    <p:sldLayoutId id="2147483726" r:id="rId15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19">
          <p15:clr>
            <a:srgbClr val="5ACBF0"/>
          </p15:clr>
        </p15:guide>
        <p15:guide id="2" pos="1731">
          <p15:clr>
            <a:srgbClr val="5ACBF0"/>
          </p15:clr>
        </p15:guide>
        <p15:guide id="3" pos="3140">
          <p15:clr>
            <a:srgbClr val="5ACBF0"/>
          </p15:clr>
        </p15:guide>
        <p15:guide id="4" pos="3488">
          <p15:clr>
            <a:srgbClr val="5ACBF0"/>
          </p15:clr>
        </p15:guide>
        <p15:guide id="5" pos="2788">
          <p15:clr>
            <a:srgbClr val="5ACBF0"/>
          </p15:clr>
        </p15:guide>
        <p15:guide id="6" pos="2434">
          <p15:clr>
            <a:srgbClr val="5ACBF0"/>
          </p15:clr>
        </p15:guide>
        <p15:guide id="7" pos="2084">
          <p15:clr>
            <a:srgbClr val="5ACBF0"/>
          </p15:clr>
        </p15:guide>
        <p15:guide id="8" pos="341">
          <p15:clr>
            <a:srgbClr val="F26B43"/>
          </p15:clr>
        </p15:guide>
        <p15:guide id="9" pos="1384">
          <p15:clr>
            <a:srgbClr val="5ACBF0"/>
          </p15:clr>
        </p15:guide>
        <p15:guide id="10" pos="1032">
          <p15:clr>
            <a:srgbClr val="5ACBF0"/>
          </p15:clr>
        </p15:guide>
        <p15:guide id="11" pos="680">
          <p15:clr>
            <a:srgbClr val="FDE53C"/>
          </p15:clr>
        </p15:guide>
        <p15:guide id="12" pos="4192">
          <p15:clr>
            <a:srgbClr val="5ACBF0"/>
          </p15:clr>
        </p15:guide>
        <p15:guide id="13" pos="4543">
          <p15:clr>
            <a:srgbClr val="5ACBF0"/>
          </p15:clr>
        </p15:guide>
        <p15:guide id="14" pos="4892">
          <p15:clr>
            <a:srgbClr val="5ACBF0"/>
          </p15:clr>
        </p15:guide>
        <p15:guide id="15" pos="5244">
          <p15:clr>
            <a:srgbClr val="5ACBF0"/>
          </p15:clr>
        </p15:guide>
        <p15:guide id="16" pos="5596">
          <p15:clr>
            <a:srgbClr val="5ACBF0"/>
          </p15:clr>
        </p15:guide>
        <p15:guide id="17" pos="5948">
          <p15:clr>
            <a:srgbClr val="5ACBF0"/>
          </p15:clr>
        </p15:guide>
        <p15:guide id="18" pos="6296">
          <p15:clr>
            <a:srgbClr val="5ACBF0"/>
          </p15:clr>
        </p15:guide>
        <p15:guide id="19" pos="6648">
          <p15:clr>
            <a:srgbClr val="5ACBF0"/>
          </p15:clr>
        </p15:guide>
        <p15:guide id="20" pos="6996">
          <p15:clr>
            <a:srgbClr val="FDE53C"/>
          </p15:clr>
        </p15:guide>
        <p15:guide id="21" orient="horz" pos="335">
          <p15:clr>
            <a:srgbClr val="F26B43"/>
          </p15:clr>
        </p15:guide>
        <p15:guide id="22" orient="horz" pos="680">
          <p15:clr>
            <a:srgbClr val="FDE53C"/>
          </p15:clr>
        </p15:guide>
        <p15:guide id="23" orient="horz" pos="1050">
          <p15:clr>
            <a:srgbClr val="5ACBF0"/>
          </p15:clr>
        </p15:guide>
        <p15:guide id="24" orient="horz" pos="1791">
          <p15:clr>
            <a:srgbClr val="5ACBF0"/>
          </p15:clr>
        </p15:guide>
        <p15:guide id="26" orient="horz" pos="2530">
          <p15:clr>
            <a:srgbClr val="5ACBF0"/>
          </p15:clr>
        </p15:guide>
        <p15:guide id="27" orient="horz" pos="2899">
          <p15:clr>
            <a:srgbClr val="5ACBF0"/>
          </p15:clr>
        </p15:guide>
        <p15:guide id="28" orient="horz" pos="3268">
          <p15:clr>
            <a:srgbClr val="5ACBF0"/>
          </p15:clr>
        </p15:guide>
        <p15:guide id="29" orient="horz" pos="3634">
          <p15:clr>
            <a:srgbClr val="FDE53C"/>
          </p15:clr>
        </p15:guide>
        <p15:guide id="30" orient="horz" pos="3979">
          <p15:clr>
            <a:srgbClr val="F26B43"/>
          </p15:clr>
        </p15:guide>
        <p15:guide id="31" orient="horz" pos="2160">
          <p15:clr>
            <a:srgbClr val="FDE53C"/>
          </p15:clr>
        </p15:guide>
        <p15:guide id="32" pos="7340">
          <p15:clr>
            <a:srgbClr val="F26B43"/>
          </p15:clr>
        </p15:guide>
        <p15:guide id="33" pos="3840">
          <p15:clr>
            <a:srgbClr val="FDE53C"/>
          </p15:clr>
        </p15:guide>
        <p15:guide id="34" orient="horz" pos="637">
          <p15:clr>
            <a:srgbClr val="C35EA4"/>
          </p15:clr>
        </p15:guide>
        <p15:guide id="35" orient="horz" pos="1128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381C4-F52E-F586-1465-77001CB91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5742" y="2303928"/>
            <a:ext cx="9520516" cy="691635"/>
          </a:xfrm>
        </p:spPr>
        <p:txBody>
          <a:bodyPr>
            <a:normAutofit/>
          </a:bodyPr>
          <a:lstStyle/>
          <a:p>
            <a:r>
              <a:rPr lang="en-US" sz="3600" b="0" i="0" dirty="0">
                <a:solidFill>
                  <a:srgbClr val="F8FAFF"/>
                </a:solidFill>
                <a:effectLst/>
                <a:latin typeface="+mn-lt"/>
              </a:rPr>
              <a:t>Employee Attrition Analysis</a:t>
            </a:r>
            <a:endParaRPr lang="en-US" sz="3600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BCAC2E-50C7-A9BE-F97F-ECE1113E10E7}"/>
              </a:ext>
            </a:extLst>
          </p:cNvPr>
          <p:cNvSpPr txBox="1">
            <a:spLocks/>
          </p:cNvSpPr>
          <p:nvPr/>
        </p:nvSpPr>
        <p:spPr>
          <a:xfrm>
            <a:off x="3870326" y="4413372"/>
            <a:ext cx="4451349" cy="1258720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"/>
              <a:defRPr sz="2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Tx/>
              <a:buNone/>
              <a:defRPr sz="2000" i="1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"/>
              <a:defRPr sz="2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Tx/>
              <a:buNone/>
              <a:defRPr sz="2000" i="1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00000" indent="-3600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"/>
              <a:defRPr sz="2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Omar Adel</a:t>
            </a:r>
          </a:p>
        </p:txBody>
      </p:sp>
    </p:spTree>
    <p:extLst>
      <p:ext uri="{BB962C8B-B14F-4D97-AF65-F5344CB8AC3E}">
        <p14:creationId xmlns:p14="http://schemas.microsoft.com/office/powerpoint/2010/main" val="2420619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5">
            <a:extLst>
              <a:ext uri="{FF2B5EF4-FFF2-40B4-BE49-F238E27FC236}">
                <a16:creationId xmlns:a16="http://schemas.microsoft.com/office/drawing/2014/main" id="{608E5834-B26E-EB3B-AD7D-C89EA671E025}"/>
              </a:ext>
            </a:extLst>
          </p:cNvPr>
          <p:cNvSpPr txBox="1">
            <a:spLocks/>
          </p:cNvSpPr>
          <p:nvPr/>
        </p:nvSpPr>
        <p:spPr>
          <a:xfrm>
            <a:off x="1102659" y="286871"/>
            <a:ext cx="9995647" cy="62215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kern="1200" cap="all" spc="4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 algn="ctr">
              <a:lnSpc>
                <a:spcPct val="300000"/>
              </a:lnSpc>
            </a:pPr>
            <a:r>
              <a:rPr lang="en-US" sz="2800" cap="all" spc="400" dirty="0">
                <a:latin typeface="Avenir Next LT Pro Light (Body)"/>
                <a:ea typeface="+mj-ea"/>
                <a:cs typeface="+mj-cs"/>
              </a:rPr>
              <a:t>Content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Next LT Pro Light (Body)"/>
              </a:rPr>
              <a:t>Data Modeling &amp; Schema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Next LT Pro Light (Body)"/>
              </a:rPr>
              <a:t>Dashboard Overview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Next LT Pro Light (Body)"/>
              </a:rPr>
              <a:t>Key DAX Measures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Next LT Pro Light (Body)"/>
              </a:rPr>
              <a:t>Workforce Overview (KPIs)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Next LT Pro Light (Body)"/>
              </a:rPr>
              <a:t>Attrition by Job Role &amp; Department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Next LT Pro Light (Body)"/>
              </a:rPr>
              <a:t>Attrition by Demographics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Next LT Pro Light (Body)"/>
              </a:rPr>
              <a:t>Satisfaction &amp; Attrition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Next LT Pro Light (Body)"/>
              </a:rPr>
              <a:t>Insights: Key Outliers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Next LT Pro Light (Body)"/>
              </a:rPr>
              <a:t>Recommendations</a:t>
            </a:r>
            <a:endParaRPr lang="en-US" sz="1800" dirty="0">
              <a:latin typeface="Avenir Next LT Pro Light (Body)"/>
            </a:endParaRPr>
          </a:p>
        </p:txBody>
      </p:sp>
    </p:spTree>
    <p:extLst>
      <p:ext uri="{BB962C8B-B14F-4D97-AF65-F5344CB8AC3E}">
        <p14:creationId xmlns:p14="http://schemas.microsoft.com/office/powerpoint/2010/main" val="10072360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9CD387-3A58-5A5F-62B1-19800E216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EF6EB888-7C15-A925-90F0-A037F7987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3EADDF-3AC9-F15E-3286-776430BA9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" y="332511"/>
            <a:ext cx="6654792" cy="1182251"/>
          </a:xfr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sz="2400" dirty="0">
                <a:latin typeface="Avenir Next LT Pro Light (Body)"/>
              </a:rPr>
              <a:t>Data Modeling &amp; Schema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0C24D6A-194C-3F16-E567-8CC0D10C0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23391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4120C9D-F874-DCF8-E57E-D62A32CC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54794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98F27D3F-B269-B76D-08A3-785B19D2D66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9993" y="2495947"/>
            <a:ext cx="6323099" cy="4423966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sz="2000" dirty="0"/>
              <a:t>Using </a:t>
            </a:r>
            <a:r>
              <a:rPr lang="en-US" sz="2000" b="1" dirty="0"/>
              <a:t>Employee Attrition data </a:t>
            </a:r>
            <a:r>
              <a:rPr lang="en-US" sz="2000" dirty="0"/>
              <a:t>in</a:t>
            </a:r>
            <a:r>
              <a:rPr lang="en-US" sz="2000" b="1" dirty="0"/>
              <a:t> Power BI</a:t>
            </a:r>
            <a:r>
              <a:rPr lang="en-US" sz="2000" dirty="0"/>
              <a:t>, data is loaded, cleaned &amp; transformed in </a:t>
            </a:r>
            <a:r>
              <a:rPr lang="en-US" sz="2000" b="1" dirty="0"/>
              <a:t>Power Query</a:t>
            </a:r>
          </a:p>
          <a:p>
            <a:pPr>
              <a:lnSpc>
                <a:spcPct val="250000"/>
              </a:lnSpc>
            </a:pPr>
            <a:r>
              <a:rPr lang="en-US" sz="2000" b="1" dirty="0"/>
              <a:t>Star Schema </a:t>
            </a:r>
            <a:r>
              <a:rPr lang="en-US" sz="2000" dirty="0"/>
              <a:t>for analysis:</a:t>
            </a:r>
          </a:p>
          <a:p>
            <a:pPr lvl="1">
              <a:lnSpc>
                <a:spcPct val="150000"/>
              </a:lnSpc>
            </a:pPr>
            <a:r>
              <a:rPr lang="en-US" sz="2000" i="0" dirty="0"/>
              <a:t>Fact table:</a:t>
            </a:r>
            <a:br>
              <a:rPr lang="en-US" sz="2000" i="0" dirty="0"/>
            </a:br>
            <a:r>
              <a:rPr lang="en-US" sz="2000" i="0" dirty="0"/>
              <a:t>FactEmployee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Dimensions:</a:t>
            </a:r>
            <a:br>
              <a:rPr lang="en-US" sz="2000" dirty="0"/>
            </a:br>
            <a:r>
              <a:rPr lang="en-US" sz="2000" dirty="0"/>
              <a:t>DimEducation, DimDepartment, DimSatisfaction</a:t>
            </a:r>
          </a:p>
          <a:p>
            <a:pPr>
              <a:lnSpc>
                <a:spcPct val="300000"/>
              </a:lnSpc>
            </a:pPr>
            <a:endParaRPr lang="en-US" sz="20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A05960F-C19A-3EF1-D2A9-4472C97FF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407" y="123828"/>
            <a:ext cx="5292278" cy="661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382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791C4-5645-1D55-F9CA-97AAE3B54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5">
            <a:extLst>
              <a:ext uri="{FF2B5EF4-FFF2-40B4-BE49-F238E27FC236}">
                <a16:creationId xmlns:a16="http://schemas.microsoft.com/office/drawing/2014/main" id="{E044F0D2-FEC0-B04D-3464-A164B9A758B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68579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kern="1200" cap="all" spc="4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2400" dirty="0">
                <a:latin typeface="+mn-lt"/>
              </a:rPr>
              <a:t>Interactive Dashboard in Power BI snapshot</a:t>
            </a:r>
            <a:endParaRPr lang="en-US" sz="22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8153BE-A06D-001B-B210-3FD850C38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413" y="676274"/>
            <a:ext cx="10333174" cy="5781741"/>
          </a:xfrm>
          <a:prstGeom prst="rect">
            <a:avLst/>
          </a:prstGeo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242825560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AEB7F98-32EC-40D3-89EE-C84330231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3BE6CC-8C1E-6B1C-8AA5-3F3426DFC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52812"/>
            <a:ext cx="4986336" cy="426726"/>
          </a:xfr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dirty="0">
                <a:latin typeface="Avenir Next LT Pro Light (Body)"/>
              </a:rPr>
              <a:t>Key DAX Measures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C6DF49-CBE3-4038-AC78-35DE4FD7C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13469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5B9CCD2F-6960-1115-4E8A-99C450D747C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40988" y="2759076"/>
            <a:ext cx="4163534" cy="3009899"/>
          </a:xfrm>
        </p:spPr>
        <p:txBody>
          <a:bodyPr vert="horz" lIns="0" tIns="0" rIns="0" bIns="0" rtlCol="0" anchor="t" anchorCtr="0">
            <a:normAutofit lnSpcReduction="10000"/>
          </a:bodyPr>
          <a:lstStyle/>
          <a:p>
            <a:pPr marL="569214" lvl="1" indent="-285750">
              <a:buFont typeface="Arial" panose="020B0604020202020204" pitchFamily="34" charset="0"/>
              <a:buChar char="•"/>
            </a:pPr>
            <a:r>
              <a:rPr lang="en-US" i="0" dirty="0"/>
              <a:t>Attrition Rate</a:t>
            </a:r>
          </a:p>
          <a:p>
            <a:pPr marL="569214" lvl="1" indent="-285750">
              <a:buFont typeface="Arial" panose="020B0604020202020204" pitchFamily="34" charset="0"/>
              <a:buChar char="•"/>
            </a:pPr>
            <a:r>
              <a:rPr lang="en-US" i="0" dirty="0"/>
              <a:t>Total Employees</a:t>
            </a:r>
          </a:p>
          <a:p>
            <a:pPr marL="569214" lvl="1" indent="-285750">
              <a:buFont typeface="Arial" panose="020B0604020202020204" pitchFamily="34" charset="0"/>
              <a:buChar char="•"/>
            </a:pPr>
            <a:r>
              <a:rPr lang="en-US" i="0" dirty="0"/>
              <a:t>Active Employees</a:t>
            </a:r>
          </a:p>
          <a:p>
            <a:pPr marL="569214" lvl="1" indent="-285750">
              <a:buFont typeface="Arial" panose="020B0604020202020204" pitchFamily="34" charset="0"/>
              <a:buChar char="•"/>
            </a:pPr>
            <a:r>
              <a:rPr lang="en-US" i="0" dirty="0"/>
              <a:t>Inactive Employees</a:t>
            </a:r>
          </a:p>
          <a:p>
            <a:pPr marL="569214" lvl="1" indent="-285750">
              <a:buFont typeface="Arial" panose="020B0604020202020204" pitchFamily="34" charset="0"/>
              <a:buChar char="•"/>
            </a:pPr>
            <a:r>
              <a:rPr lang="en-US" i="0" dirty="0"/>
              <a:t>Target Attrition Rate</a:t>
            </a:r>
          </a:p>
          <a:p>
            <a:pPr marL="569214" lvl="1" indent="-285750">
              <a:buFont typeface="Arial" panose="020B0604020202020204" pitchFamily="34" charset="0"/>
              <a:buChar char="•"/>
            </a:pPr>
            <a:r>
              <a:rPr lang="en-US" i="0" dirty="0"/>
              <a:t>Job, Environment, Relationship, Work life balance Satisfaction Attrition Rate</a:t>
            </a:r>
          </a:p>
          <a:p>
            <a:pPr marL="569214" lvl="1" indent="-285750">
              <a:buFont typeface="Arial" panose="020B0604020202020204" pitchFamily="34" charset="0"/>
              <a:buChar char="•"/>
            </a:pPr>
            <a:r>
              <a:rPr lang="en-US" i="0" dirty="0"/>
              <a:t>And many more!</a:t>
            </a:r>
          </a:p>
          <a:p>
            <a:pPr marL="569214" lvl="1" indent="-285750">
              <a:buFont typeface="Arial" panose="020B0604020202020204" pitchFamily="34" charset="0"/>
              <a:buChar char="•"/>
            </a:pPr>
            <a:endParaRPr lang="en-US" i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D9000E-708C-464D-A86F-4ABE391B6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6337" y="0"/>
            <a:ext cx="7205663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A65C49-22BB-6E2B-4512-5CB13435B861}"/>
              </a:ext>
            </a:extLst>
          </p:cNvPr>
          <p:cNvSpPr txBox="1"/>
          <p:nvPr/>
        </p:nvSpPr>
        <p:spPr>
          <a:xfrm>
            <a:off x="5343283" y="952812"/>
            <a:ext cx="6491747" cy="1200329"/>
          </a:xfrm>
          <a:prstGeom prst="rect">
            <a:avLst/>
          </a:prstGeom>
          <a:noFill/>
          <a:ln w="38100">
            <a:solidFill>
              <a:srgbClr val="9B2C1F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/>
              <a:t>AttritionRate = </a:t>
            </a:r>
          </a:p>
          <a:p>
            <a:r>
              <a:rPr lang="en-US" sz="1200" dirty="0"/>
              <a:t>VAR YesAttrition = CALCULATE([TotalEmployees],FactEmployee[Attrition] = "Yes")</a:t>
            </a:r>
          </a:p>
          <a:p>
            <a:r>
              <a:rPr lang="en-US" sz="1200" dirty="0"/>
              <a:t>VAR Employees = DISTINCTCOUNT (FactEmployee[EmployeeNumber])</a:t>
            </a:r>
          </a:p>
          <a:p>
            <a:endParaRPr lang="en-US" sz="1200" dirty="0"/>
          </a:p>
          <a:p>
            <a:r>
              <a:rPr lang="en-US" sz="1200" dirty="0"/>
              <a:t>RETURN</a:t>
            </a:r>
          </a:p>
          <a:p>
            <a:r>
              <a:rPr lang="en-US" sz="1200" dirty="0"/>
              <a:t>DIVIDE(YesAttrition, Employees, 0)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4CA2A9-A557-D557-F541-C6D0E8481761}"/>
              </a:ext>
            </a:extLst>
          </p:cNvPr>
          <p:cNvSpPr txBox="1"/>
          <p:nvPr/>
        </p:nvSpPr>
        <p:spPr>
          <a:xfrm>
            <a:off x="5343283" y="2391397"/>
            <a:ext cx="6491747" cy="830997"/>
          </a:xfrm>
          <a:prstGeom prst="rect">
            <a:avLst/>
          </a:prstGeom>
          <a:noFill/>
          <a:ln w="38100">
            <a:solidFill>
              <a:srgbClr val="9B2C1F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US" b="1" dirty="0"/>
              <a:t>TotalEmployees</a:t>
            </a:r>
            <a:r>
              <a:rPr lang="en-US" dirty="0"/>
              <a:t> = DISTINCTCount(FactEmployee[EmployeeNumber])</a:t>
            </a:r>
          </a:p>
          <a:p>
            <a:r>
              <a:rPr lang="en-US" b="1" dirty="0"/>
              <a:t>ActiveEmployees</a:t>
            </a:r>
            <a:r>
              <a:rPr lang="en-US" dirty="0"/>
              <a:t> = CALCULATE([TotalEmployees], FactEmployee[Attrition] = "No")</a:t>
            </a:r>
          </a:p>
          <a:p>
            <a:r>
              <a:rPr lang="en-US" b="1" dirty="0"/>
              <a:t>InactiveEmployees</a:t>
            </a:r>
            <a:r>
              <a:rPr lang="en-US" dirty="0"/>
              <a:t> = CALCULATE([TotalEmployees], FactEmployee[Attrition] = "Yes")</a:t>
            </a:r>
            <a:br>
              <a:rPr lang="en-US" dirty="0"/>
            </a:br>
            <a:r>
              <a:rPr lang="en-US" b="1" dirty="0"/>
              <a:t>TargetAttritionRate</a:t>
            </a:r>
            <a:r>
              <a:rPr lang="en-US" dirty="0"/>
              <a:t> = 0.10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6B4AB1-F562-C5E4-EE0D-F06F779B2651}"/>
              </a:ext>
            </a:extLst>
          </p:cNvPr>
          <p:cNvSpPr txBox="1"/>
          <p:nvPr/>
        </p:nvSpPr>
        <p:spPr>
          <a:xfrm>
            <a:off x="5343283" y="3460651"/>
            <a:ext cx="6491747" cy="2308324"/>
          </a:xfrm>
          <a:prstGeom prst="rect">
            <a:avLst/>
          </a:prstGeom>
          <a:noFill/>
          <a:ln w="38100">
            <a:solidFill>
              <a:srgbClr val="9B2C1F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/>
              <a:t>Attrition Rate (Job Satisfaction) = </a:t>
            </a:r>
          </a:p>
          <a:p>
            <a:endParaRPr lang="en-US" sz="1200" dirty="0"/>
          </a:p>
          <a:p>
            <a:r>
              <a:rPr lang="en-US" sz="1200" dirty="0"/>
              <a:t>DIVIDE(</a:t>
            </a:r>
          </a:p>
          <a:p>
            <a:r>
              <a:rPr lang="en-US" sz="1200" dirty="0"/>
              <a:t>    CALCULATE(</a:t>
            </a:r>
          </a:p>
          <a:p>
            <a:r>
              <a:rPr lang="en-US" sz="1200" dirty="0"/>
              <a:t>        DISTINCTCOUNT(FactEmployee[EmployeeNumber]), FactEmployee[Attrition] = "Yes",</a:t>
            </a:r>
          </a:p>
          <a:p>
            <a:r>
              <a:rPr lang="en-US" sz="1200" dirty="0"/>
              <a:t>        USERELATIONSHIP(FactEmployee[JobSatisfaction], DimSatisfaction[SatisfactionID])</a:t>
            </a:r>
          </a:p>
          <a:p>
            <a:r>
              <a:rPr lang="en-US" sz="1200" dirty="0"/>
              <a:t>    ),</a:t>
            </a:r>
          </a:p>
          <a:p>
            <a:r>
              <a:rPr lang="en-US" sz="1200" dirty="0"/>
              <a:t>    CALCULATE(</a:t>
            </a:r>
          </a:p>
          <a:p>
            <a:r>
              <a:rPr lang="en-US" sz="1200" dirty="0"/>
              <a:t>        DISTINCTCOUNT(FactEmployee[EmployeeNumber]),</a:t>
            </a:r>
          </a:p>
          <a:p>
            <a:r>
              <a:rPr lang="en-US" sz="1200" dirty="0"/>
              <a:t>        USERELATIONSHIP(FactEmployee[JobSatisfaction], DimSatisfaction[SatisfactionID])</a:t>
            </a:r>
          </a:p>
          <a:p>
            <a:r>
              <a:rPr lang="en-US" sz="1200" dirty="0"/>
              <a:t>    )</a:t>
            </a:r>
          </a:p>
          <a:p>
            <a:r>
              <a:rPr lang="en-US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29045197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75E2ABC0-E429-D820-BDBA-7EC8192546E0}"/>
              </a:ext>
            </a:extLst>
          </p:cNvPr>
          <p:cNvSpPr txBox="1">
            <a:spLocks/>
          </p:cNvSpPr>
          <p:nvPr/>
        </p:nvSpPr>
        <p:spPr>
          <a:xfrm>
            <a:off x="0" y="723899"/>
            <a:ext cx="12191999" cy="436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kern="1200" cap="all" spc="4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Avenir Next LT Pro Light (Body)"/>
              </a:rPr>
              <a:t>Workforce Overview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BEBDF1-517F-1456-7302-77D38CEA0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789768"/>
            <a:ext cx="12192000" cy="390580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369ECA6D-4AC4-DE4D-2395-B4FDD47274E8}"/>
              </a:ext>
            </a:extLst>
          </p:cNvPr>
          <p:cNvSpPr txBox="1">
            <a:spLocks/>
          </p:cNvSpPr>
          <p:nvPr/>
        </p:nvSpPr>
        <p:spPr>
          <a:xfrm>
            <a:off x="4276434" y="3429000"/>
            <a:ext cx="3759202" cy="197494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360000" indent="-3600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"/>
              <a:defRPr sz="2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Tx/>
              <a:buNone/>
              <a:defRPr sz="2000" i="1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"/>
              <a:defRPr sz="2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Tx/>
              <a:buNone/>
              <a:defRPr sz="2000" i="1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00000" indent="-3600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"/>
              <a:defRPr sz="2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64" lvl="1"/>
            <a:r>
              <a:rPr lang="en-US" i="0" dirty="0"/>
              <a:t>Attrition Rate = ~16.12% (237)</a:t>
            </a:r>
          </a:p>
          <a:p>
            <a:pPr marL="283464" lvl="1"/>
            <a:r>
              <a:rPr lang="en-US" i="0" dirty="0"/>
              <a:t>Total Employees = 1,470</a:t>
            </a:r>
          </a:p>
          <a:p>
            <a:pPr marL="283464" lvl="1"/>
            <a:r>
              <a:rPr lang="en-US" i="0" dirty="0"/>
              <a:t>Average Age = 37 yrs</a:t>
            </a:r>
          </a:p>
          <a:p>
            <a:pPr marL="283464" lvl="1"/>
            <a:r>
              <a:rPr lang="en-US" i="0" dirty="0"/>
              <a:t>Average Income = $6,503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B8E466-D5CB-7B36-AD71-392BD49DC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203" y="1454053"/>
            <a:ext cx="8897592" cy="1181265"/>
          </a:xfrm>
          <a:prstGeom prst="rect">
            <a:avLst/>
          </a:prstGeom>
          <a:effectLst>
            <a:softEdge rad="101600"/>
          </a:effectLst>
        </p:spPr>
      </p:pic>
    </p:spTree>
    <p:extLst>
      <p:ext uri="{BB962C8B-B14F-4D97-AF65-F5344CB8AC3E}">
        <p14:creationId xmlns:p14="http://schemas.microsoft.com/office/powerpoint/2010/main" val="217870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E42EB-0B26-BCD4-FFAF-D349F391E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5">
            <a:extLst>
              <a:ext uri="{FF2B5EF4-FFF2-40B4-BE49-F238E27FC236}">
                <a16:creationId xmlns:a16="http://schemas.microsoft.com/office/drawing/2014/main" id="{7D4AF750-0E47-9015-FC20-E1E41D646E3C}"/>
              </a:ext>
            </a:extLst>
          </p:cNvPr>
          <p:cNvSpPr txBox="1">
            <a:spLocks/>
          </p:cNvSpPr>
          <p:nvPr/>
        </p:nvSpPr>
        <p:spPr>
          <a:xfrm>
            <a:off x="-1" y="526473"/>
            <a:ext cx="6292497" cy="12003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kern="1200" cap="all" spc="4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dirty="0">
                <a:latin typeface="Avenir Next LT Pro Light (Body)"/>
              </a:rPr>
              <a:t>Attrition by Job role &amp; Department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0AABCB-F0CF-1022-EB5C-1CD81C325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032123" y="3257977"/>
            <a:ext cx="6857997" cy="3420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870E66E-3AC5-83E7-A433-B6DD01818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98129"/>
            <a:ext cx="6414655" cy="39058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20CF655-616D-D504-4E1D-21893713FDFA}"/>
              </a:ext>
            </a:extLst>
          </p:cNvPr>
          <p:cNvSpPr txBox="1"/>
          <p:nvPr/>
        </p:nvSpPr>
        <p:spPr>
          <a:xfrm>
            <a:off x="443345" y="2288709"/>
            <a:ext cx="57496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tx1">
                    <a:alpha val="70000"/>
                  </a:schemeClr>
                </a:solidFill>
              </a:rPr>
              <a:t>Job Role</a:t>
            </a:r>
            <a:br>
              <a:rPr lang="en-US" u="sng" dirty="0">
                <a:solidFill>
                  <a:schemeClr val="tx1">
                    <a:alpha val="70000"/>
                  </a:schemeClr>
                </a:solidFill>
              </a:rPr>
            </a:br>
            <a:br>
              <a:rPr lang="en-US" dirty="0">
                <a:solidFill>
                  <a:schemeClr val="tx1">
                    <a:alpha val="70000"/>
                  </a:schemeClr>
                </a:solidFill>
              </a:rPr>
            </a:br>
            <a:r>
              <a:rPr lang="en-US" dirty="0">
                <a:solidFill>
                  <a:schemeClr val="tx1">
                    <a:alpha val="70000"/>
                  </a:schemeClr>
                </a:solidFill>
              </a:rPr>
              <a:t>Sales Representatives: 39.76% attrition (highest).</a:t>
            </a:r>
          </a:p>
          <a:p>
            <a:r>
              <a:rPr lang="en-US" dirty="0">
                <a:solidFill>
                  <a:schemeClr val="tx1">
                    <a:alpha val="70000"/>
                  </a:schemeClr>
                </a:solidFill>
              </a:rPr>
              <a:t>Lab Technicians: 23.94%.</a:t>
            </a:r>
          </a:p>
          <a:p>
            <a:r>
              <a:rPr lang="en-US" dirty="0">
                <a:solidFill>
                  <a:schemeClr val="tx1">
                    <a:alpha val="70000"/>
                  </a:schemeClr>
                </a:solidFill>
              </a:rPr>
              <a:t>Human Resources: 23.08%.</a:t>
            </a:r>
          </a:p>
          <a:p>
            <a:r>
              <a:rPr lang="en-US" dirty="0">
                <a:solidFill>
                  <a:schemeClr val="tx1">
                    <a:alpha val="70000"/>
                  </a:schemeClr>
                </a:solidFill>
              </a:rPr>
              <a:t>Research Director: 2.50% (lowest attrition).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D05DDD7-264F-7452-2A89-F5F49A5B76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035077"/>
            <a:ext cx="4608353" cy="2718843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A9C652-E10D-97E2-D61C-17097AB471F5}"/>
              </a:ext>
            </a:extLst>
          </p:cNvPr>
          <p:cNvSpPr txBox="1"/>
          <p:nvPr/>
        </p:nvSpPr>
        <p:spPr>
          <a:xfrm>
            <a:off x="443344" y="4232383"/>
            <a:ext cx="57496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 u="sng" dirty="0"/>
              <a:t>Departments</a:t>
            </a:r>
            <a:br>
              <a:rPr lang="en-US" b="0" u="sng" dirty="0"/>
            </a:br>
            <a:endParaRPr lang="en-US" b="0" u="sng" dirty="0"/>
          </a:p>
          <a:p>
            <a:r>
              <a:rPr lang="en-US" b="0" dirty="0"/>
              <a:t>Sales: 20.63%.</a:t>
            </a:r>
          </a:p>
          <a:p>
            <a:r>
              <a:rPr lang="en-US" b="0" dirty="0"/>
              <a:t>Human Resources: 19.05%.</a:t>
            </a:r>
          </a:p>
          <a:p>
            <a:r>
              <a:rPr lang="en-US" b="0" dirty="0"/>
              <a:t>Research &amp; Development: 13.84%.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E1FCF3-158A-9057-54C7-31AACC5F55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9401" y="3753920"/>
            <a:ext cx="3805550" cy="2434254"/>
          </a:xfrm>
          <a:prstGeom prst="rect">
            <a:avLst/>
          </a:prstGeom>
          <a:effectLst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4161930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8CC26-C80B-306D-799E-895671988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5386F38F-6E9F-EF83-6C4D-7C2577003A4F}"/>
              </a:ext>
            </a:extLst>
          </p:cNvPr>
          <p:cNvSpPr txBox="1">
            <a:spLocks/>
          </p:cNvSpPr>
          <p:nvPr/>
        </p:nvSpPr>
        <p:spPr>
          <a:xfrm>
            <a:off x="0" y="723899"/>
            <a:ext cx="12191999" cy="436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kern="1200" cap="all" spc="4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Avenir Next LT Pro Light (Body)"/>
              </a:rPr>
              <a:t>Attrition by Demographics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2A5B46-9774-888D-8566-DCA4517AE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0462"/>
            <a:ext cx="12192000" cy="3905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A8F04C-BD98-472D-CC97-A171EC54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946" y="1995115"/>
            <a:ext cx="5105487" cy="4138986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8E2BEE-DCD0-D637-25F9-23DF2DA697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181774" y="3943775"/>
            <a:ext cx="5486400" cy="3420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3499D4-42EB-932E-9D1D-9413E386B15F}"/>
              </a:ext>
            </a:extLst>
          </p:cNvPr>
          <p:cNvSpPr txBox="1"/>
          <p:nvPr/>
        </p:nvSpPr>
        <p:spPr>
          <a:xfrm>
            <a:off x="6334515" y="2541979"/>
            <a:ext cx="5268687" cy="30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alpha val="70000"/>
                  </a:schemeClr>
                </a:solidFill>
              </a:rPr>
              <a:t>The highest employee turnover is seen in the 20-29 age group, with over half leaving the company. This group also has the lowest average salary.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alpha val="70000"/>
                  </a:schemeClr>
                </a:solidFill>
              </a:rPr>
              <a:t>Employees earning less are far more likely to leave than higher earners.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alpha val="70000"/>
                  </a:schemeClr>
                </a:solidFill>
              </a:rPr>
              <a:t>There is very little difference in attrition rates between male and female employees.</a:t>
            </a:r>
          </a:p>
        </p:txBody>
      </p:sp>
    </p:spTree>
    <p:extLst>
      <p:ext uri="{BB962C8B-B14F-4D97-AF65-F5344CB8AC3E}">
        <p14:creationId xmlns:p14="http://schemas.microsoft.com/office/powerpoint/2010/main" val="264965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6DBCC-9EFB-C6D2-454C-3C7BF6C77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A951E811-5BEC-314B-E1A6-437EAE3527CA}"/>
              </a:ext>
            </a:extLst>
          </p:cNvPr>
          <p:cNvSpPr txBox="1">
            <a:spLocks/>
          </p:cNvSpPr>
          <p:nvPr/>
        </p:nvSpPr>
        <p:spPr>
          <a:xfrm>
            <a:off x="-1" y="569091"/>
            <a:ext cx="12191999" cy="436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kern="1200" cap="all" spc="4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Avenir Next LT Pro Light (Body)"/>
              </a:rPr>
              <a:t>Satisfaction &amp; Attrition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F68C94-A628-243F-43E9-A9DF56D36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8102"/>
            <a:ext cx="12192000" cy="3905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ECD411-FA9C-41F9-A4BC-B05C55BB4256}"/>
              </a:ext>
            </a:extLst>
          </p:cNvPr>
          <p:cNvSpPr txBox="1"/>
          <p:nvPr/>
        </p:nvSpPr>
        <p:spPr>
          <a:xfrm>
            <a:off x="346362" y="1951711"/>
            <a:ext cx="5749637" cy="4200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</a:rPr>
              <a:t>Very dissatisfied groups show the highest turnover: Work‑life 31.25%, Job 22.84%, Environment 25.35%, Relationship 20.65%.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</a:rPr>
              <a:t>Improving satisfaction should materially reduce attrition in at‑risk teams.</a:t>
            </a:r>
            <a:endParaRPr lang="ar-EG" dirty="0">
              <a:solidFill>
                <a:schemeClr val="tx1">
                  <a:alpha val="7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</a:rPr>
              <a:t>And average satisfaction scores are modest: Job 2.73, Environment 2.72, Work‑life 2.76, Relationship 2.71, signaling room for improvement across the board.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alpha val="70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2318AE-4851-6558-6D64-7242F9075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923" y="1359333"/>
            <a:ext cx="3849716" cy="2555357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81C19C-0FC9-0648-1DC5-53A660F814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140058" y="3743665"/>
            <a:ext cx="1245995" cy="3420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53BF6F-191D-1C6C-9CCA-D1AC30F7F3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923" y="3914690"/>
            <a:ext cx="3849716" cy="2555358"/>
          </a:xfrm>
          <a:prstGeom prst="rect">
            <a:avLst/>
          </a:prstGeom>
          <a:effectLst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2751948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1D23B4-4FD2-4A47-5A33-CE943C295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369F5FE0-EBCF-4A14-AF3D-1ADCD644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3D752A-F20A-4AAF-8E51-AC391E0EF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108" y="651109"/>
            <a:ext cx="4426782" cy="1292662"/>
          </a:xfrm>
        </p:spPr>
        <p:txBody>
          <a:bodyPr vert="horz" lIns="0" tIns="0" rIns="0" bIns="0" rtlCol="0" anchor="t" anchorCtr="0">
            <a:normAutofit/>
          </a:bodyPr>
          <a:lstStyle/>
          <a:p>
            <a:pPr algn="l"/>
            <a:r>
              <a:rPr lang="en-US" dirty="0">
                <a:latin typeface="Avenir Next LT Pro Light (Body)"/>
              </a:rPr>
              <a:t>Insights summary</a:t>
            </a:r>
          </a:p>
        </p:txBody>
      </p:sp>
      <p:pic>
        <p:nvPicPr>
          <p:cNvPr id="4" name="Picture 3" descr="A red square with white text&#10;&#10;AI-generated content may be incorrect.">
            <a:extLst>
              <a:ext uri="{FF2B5EF4-FFF2-40B4-BE49-F238E27FC236}">
                <a16:creationId xmlns:a16="http://schemas.microsoft.com/office/drawing/2014/main" id="{F0AF959D-86B6-B46F-2063-3E4C42E4F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499" y="3622355"/>
            <a:ext cx="2088000" cy="2147657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E3941FDF-68D6-D925-26A8-3DF9878FAB7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718115" y="1570629"/>
            <a:ext cx="5891823" cy="4201042"/>
          </a:xfrm>
        </p:spPr>
        <p:txBody>
          <a:bodyPr vert="horz" lIns="0" tIns="0" rIns="0" bIns="0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400" b="1" dirty="0"/>
              <a:t>Employees</a:t>
            </a:r>
            <a:r>
              <a:rPr lang="en-US" sz="1400" dirty="0"/>
              <a:t>: 20-29 age group shows 54.55% attrition and earns lowest average income of $2.5K</a:t>
            </a:r>
          </a:p>
          <a:p>
            <a:pPr>
              <a:lnSpc>
                <a:spcPct val="120000"/>
              </a:lnSpc>
            </a:pPr>
            <a:r>
              <a:rPr lang="en-US" sz="1400" b="1" dirty="0"/>
              <a:t>Department &amp; Job Role</a:t>
            </a:r>
            <a:r>
              <a:rPr lang="en-US" sz="1400" dirty="0"/>
              <a:t>: Sales Representatives lead at 39.76% and Lab Technicians at 23.94%. Sales department shows 20.63% overall attrition rate</a:t>
            </a:r>
          </a:p>
          <a:p>
            <a:pPr>
              <a:lnSpc>
                <a:spcPct val="120000"/>
              </a:lnSpc>
            </a:pPr>
            <a:r>
              <a:rPr lang="en-US" sz="1400" b="1" dirty="0"/>
              <a:t>Overtime turnover</a:t>
            </a:r>
            <a:r>
              <a:rPr lang="en-US" sz="1400" dirty="0"/>
              <a:t>: Workers with overtime show 30.53% vs. 10.44% without overtime.</a:t>
            </a:r>
          </a:p>
          <a:p>
            <a:pPr>
              <a:lnSpc>
                <a:spcPct val="120000"/>
              </a:lnSpc>
            </a:pPr>
            <a:r>
              <a:rPr lang="en-US" sz="1400" b="1" dirty="0"/>
              <a:t>Business travel </a:t>
            </a:r>
            <a:r>
              <a:rPr lang="en-US" sz="1400" dirty="0"/>
              <a:t>: Frequent travelers quit at 24.91% vs. 8% for non-travelers.</a:t>
            </a:r>
          </a:p>
          <a:p>
            <a:pPr>
              <a:lnSpc>
                <a:spcPct val="120000"/>
              </a:lnSpc>
            </a:pPr>
            <a:r>
              <a:rPr lang="en-US" sz="1400" b="1" dirty="0"/>
              <a:t>Work-life satisfaction </a:t>
            </a:r>
            <a:r>
              <a:rPr lang="en-US" sz="1400" dirty="0"/>
              <a:t>: Very dissatisfied workers show 31.25% vs. 17.65% for very satisfied.</a:t>
            </a:r>
          </a:p>
          <a:p>
            <a:pPr>
              <a:lnSpc>
                <a:spcPct val="120000"/>
              </a:lnSpc>
            </a:pPr>
            <a:r>
              <a:rPr lang="en-US" sz="1400" b="1" dirty="0"/>
              <a:t>Low Income</a:t>
            </a:r>
            <a:r>
              <a:rPr lang="en-US" sz="1400" dirty="0"/>
              <a:t>: $1-3K income group shows 28.61% attrition rate.</a:t>
            </a:r>
          </a:p>
          <a:p>
            <a:pPr>
              <a:lnSpc>
                <a:spcPct val="120000"/>
              </a:lnSpc>
            </a:pPr>
            <a:r>
              <a:rPr lang="en-US" sz="1400" b="1" dirty="0"/>
              <a:t>Marital Status</a:t>
            </a:r>
            <a:r>
              <a:rPr lang="en-US" sz="1400" dirty="0"/>
              <a:t>: 25.53% attrition vs. 12.48% for married workers.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52A3CD-16D4-1493-6C9C-8C7B8DEE2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260" y="1570629"/>
            <a:ext cx="2631595" cy="2438663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991298-642C-4E98-2751-8D9884E5C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008" y="4009292"/>
            <a:ext cx="4054432" cy="2197599"/>
          </a:xfrm>
          <a:prstGeom prst="rect">
            <a:avLst/>
          </a:prstGeo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32181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5" name="Rectangle 94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3BE6CC-8C1E-6B1C-8AA5-3F3426DFC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592786"/>
            <a:ext cx="6120000" cy="1452525"/>
          </a:xfr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dirty="0">
                <a:latin typeface="Avenir Next LT Pro Light (Body)"/>
              </a:rPr>
              <a:t>BUSINESS</a:t>
            </a:r>
            <a:br>
              <a:rPr lang="en-US" dirty="0">
                <a:latin typeface="Avenir Next LT Pro Light (Body)"/>
              </a:rPr>
            </a:br>
            <a:r>
              <a:rPr lang="en-US" dirty="0">
                <a:latin typeface="Avenir Next LT Pro Light (Body)"/>
              </a:rPr>
              <a:t>Recommendations</a:t>
            </a:r>
            <a:br>
              <a:rPr lang="en-US" b="1" dirty="0"/>
            </a:br>
            <a:endParaRPr lang="en-US" dirty="0"/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7C6DF49-CBE3-4038-AC78-35DE4FD7C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70000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E268173-B949-5B59-102B-7F1673AC21B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80000" y="2638097"/>
            <a:ext cx="6121400" cy="3873235"/>
          </a:xfrm>
        </p:spPr>
        <p:txBody>
          <a:bodyPr vert="horz" lIns="0" tIns="0" rIns="0" bIns="0" rtlCol="0" anchor="t" anchorCtr="0">
            <a:normAutofit lnSpcReduction="10000"/>
          </a:bodyPr>
          <a:lstStyle/>
          <a:p>
            <a:pPr>
              <a:lnSpc>
                <a:spcPct val="115000"/>
              </a:lnSpc>
            </a:pPr>
            <a:r>
              <a:rPr lang="en-US" sz="1400" dirty="0"/>
              <a:t>Focus first on the </a:t>
            </a:r>
            <a:r>
              <a:rPr lang="en-US" sz="1400" b="1" dirty="0"/>
              <a:t>20–29</a:t>
            </a:r>
            <a:r>
              <a:rPr lang="en-US" sz="1400" dirty="0"/>
              <a:t> age group with tailored onboarding, mentorship, and clear growth paths, as this group has the highest attrition rate.</a:t>
            </a:r>
          </a:p>
          <a:p>
            <a:pPr>
              <a:lnSpc>
                <a:spcPct val="115000"/>
              </a:lnSpc>
            </a:pPr>
            <a:r>
              <a:rPr lang="en-US" sz="1400" dirty="0"/>
              <a:t>Redesign high‑turnover roles, especially </a:t>
            </a:r>
            <a:r>
              <a:rPr lang="en-US" sz="1400" b="1" dirty="0"/>
              <a:t>Sales Representatives </a:t>
            </a:r>
            <a:r>
              <a:rPr lang="en-US" sz="1400" dirty="0"/>
              <a:t>(39.76%) and </a:t>
            </a:r>
            <a:r>
              <a:rPr lang="en-US" sz="1400" b="1" dirty="0"/>
              <a:t>Lab Technicians </a:t>
            </a:r>
            <a:r>
              <a:rPr lang="en-US" sz="1400" dirty="0"/>
              <a:t>(23.94%), with workload fixes, clearer career steps, and targeted recognition.</a:t>
            </a:r>
          </a:p>
          <a:p>
            <a:pPr>
              <a:lnSpc>
                <a:spcPct val="115000"/>
              </a:lnSpc>
            </a:pPr>
            <a:r>
              <a:rPr lang="en-US" sz="1400" dirty="0"/>
              <a:t>Reduce required overtime and offer flexible scheduling in teams with 30.53% attrition among overtime employees.</a:t>
            </a:r>
          </a:p>
          <a:p>
            <a:pPr>
              <a:lnSpc>
                <a:spcPct val="115000"/>
              </a:lnSpc>
            </a:pPr>
            <a:r>
              <a:rPr lang="en-US" sz="1400" dirty="0"/>
              <a:t>Support frequent travelers with schedule flexibility or travel relief where 24.91% attrition rate.</a:t>
            </a:r>
          </a:p>
          <a:p>
            <a:pPr>
              <a:lnSpc>
                <a:spcPct val="115000"/>
              </a:lnSpc>
            </a:pPr>
            <a:r>
              <a:rPr lang="en-US" sz="1400" dirty="0"/>
              <a:t>Review entry‑level pay for employees in the </a:t>
            </a:r>
            <a:r>
              <a:rPr lang="en-US" sz="1400" b="1" dirty="0"/>
              <a:t>$1–3K </a:t>
            </a:r>
            <a:r>
              <a:rPr lang="en-US" sz="1400" dirty="0"/>
              <a:t>income group where attrition is 28.61%,</a:t>
            </a:r>
          </a:p>
          <a:p>
            <a:pPr>
              <a:lnSpc>
                <a:spcPct val="115000"/>
              </a:lnSpc>
            </a:pPr>
            <a:r>
              <a:rPr lang="en-US" sz="1400" dirty="0"/>
              <a:t>Prioritize work‑life balance actions for teams scoring “Very Dissatisfied” where attrition reaches 31.25%.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E7512AD-9E2D-4DC1-B4A2-A93A51CDE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24850" y="0"/>
            <a:ext cx="386715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pic>
        <p:nvPicPr>
          <p:cNvPr id="38" name="Graphic 37" descr="Label">
            <a:extLst>
              <a:ext uri="{FF2B5EF4-FFF2-40B4-BE49-F238E27FC236}">
                <a16:creationId xmlns:a16="http://schemas.microsoft.com/office/drawing/2014/main" id="{3E1221DD-9DBA-9821-0809-89407C01B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83650" y="2045319"/>
            <a:ext cx="2767362" cy="276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288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01C0CAB-6A03-4C6A-9FAA-219847753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982E0B2-AA9C-441C-A08E-A9DF9CF12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3011B0B3-5679-4759-90B8-3B908C4CB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Yellow and blue symbols">
            <a:extLst>
              <a:ext uri="{FF2B5EF4-FFF2-40B4-BE49-F238E27FC236}">
                <a16:creationId xmlns:a16="http://schemas.microsoft.com/office/drawing/2014/main" id="{6206ABC7-9C17-626F-252C-96B53F90AB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93" r="-1" b="13959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767E5D14-5396-4D7B-996A-7BFD00576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8637" y="1"/>
            <a:ext cx="8894726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34902"/>
                </a:srgbClr>
              </a:gs>
              <a:gs pos="80000">
                <a:srgbClr val="000000">
                  <a:alpha val="0"/>
                </a:srgbClr>
              </a:gs>
              <a:gs pos="51000">
                <a:srgbClr val="000000">
                  <a:alpha val="2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A8A76F-D376-79BA-AC5E-A2735E783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0" y="1089025"/>
            <a:ext cx="7797800" cy="1532951"/>
          </a:xfr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sz="5400" b="1" dirty="0">
                <a:solidFill>
                  <a:srgbClr val="FFFFFF"/>
                </a:solidFill>
              </a:rPr>
              <a:t>Q&amp;A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85708A7-99B4-41EE-8012-C176C8AA4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87925" y="2840038"/>
            <a:ext cx="2216150" cy="1177924"/>
            <a:chOff x="3036889" y="2840038"/>
            <a:chExt cx="2216150" cy="1177924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109F7CF-3139-48B9-AF7B-9BD2941A8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36889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5A838F8-C7B5-4988-81A9-B02E6C8F9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9172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5B86A1A-402F-4AE2-B5E6-B8A5FB16C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518299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44A0542D-9B1C-46B1-82B5-54470B697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3908" y="3117662"/>
              <a:ext cx="1009280" cy="464739"/>
              <a:chOff x="4432859" y="3200647"/>
              <a:chExt cx="1009280" cy="464739"/>
            </a:xfrm>
            <a:solidFill>
              <a:srgbClr val="FFFFFF">
                <a:alpha val="20000"/>
              </a:srgbClr>
            </a:solidFill>
          </p:grpSpPr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F3AFD408-F48C-4C50-8D5E-5DD6271799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6200000" flipH="1" flipV="1">
                <a:off x="4977400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9C45F007-BD45-43C0-8579-5601F9CA78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 flipV="1">
                <a:off x="4432859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97131E1B-CE62-4AB1-A2D9-02E823C9B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728943" y="2915338"/>
              <a:ext cx="1080000" cy="1080000"/>
              <a:chOff x="4497894" y="2998323"/>
              <a:chExt cx="1080000" cy="1080000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745E8D88-C0BB-4D1C-B240-D441BBA6F7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3500000">
                <a:off x="4805524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AAB960BE-12F5-4ADA-AA9E-0EC54256411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FFFFFF"/>
                    </a:solidFill>
                  </a:endParaRPr>
                </a:p>
              </p:txBody>
            </p: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7E9BB9F7-7101-4BF3-9191-5893E4C582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D0710A9C-48A5-404F-9EC4-D486FCDFDA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8100000" flipH="1">
                <a:off x="4542572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5111EC00-4B3D-478C-AD25-F35644013E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FFFFFF"/>
                    </a:solidFill>
                  </a:endParaRPr>
                </a:p>
              </p:txBody>
            </p: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350412DA-ED08-4AFA-AED3-DFB42655D4B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21976069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52CD-4C4C-9E44-BE9B-72AB9835E6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F2E30C-1333-5529-886B-FD732D3DCB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0326" y="4248000"/>
            <a:ext cx="4451349" cy="1258720"/>
          </a:xfrm>
        </p:spPr>
        <p:txBody>
          <a:bodyPr>
            <a:normAutofit/>
          </a:bodyPr>
          <a:lstStyle/>
          <a:p>
            <a:r>
              <a:rPr lang="en-US" sz="2400" dirty="0"/>
              <a:t>Omar Adel</a:t>
            </a:r>
          </a:p>
        </p:txBody>
      </p:sp>
    </p:spTree>
    <p:extLst>
      <p:ext uri="{BB962C8B-B14F-4D97-AF65-F5344CB8AC3E}">
        <p14:creationId xmlns:p14="http://schemas.microsoft.com/office/powerpoint/2010/main" val="368479395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theme/theme1.xml><?xml version="1.0" encoding="utf-8"?>
<a:theme xmlns:a="http://schemas.openxmlformats.org/drawingml/2006/main" name="LeafVTI">
  <a:themeElements>
    <a:clrScheme name="Leaf">
      <a:dk1>
        <a:sysClr val="windowText" lastClr="000000"/>
      </a:dk1>
      <a:lt1>
        <a:sysClr val="window" lastClr="FFFFFF"/>
      </a:lt1>
      <a:dk2>
        <a:srgbClr val="732124"/>
      </a:dk2>
      <a:lt2>
        <a:srgbClr val="F0EDE5"/>
      </a:lt2>
      <a:accent1>
        <a:srgbClr val="D34817"/>
      </a:accent1>
      <a:accent2>
        <a:srgbClr val="A68D65"/>
      </a:accent2>
      <a:accent3>
        <a:srgbClr val="728377"/>
      </a:accent3>
      <a:accent4>
        <a:srgbClr val="B4797B"/>
      </a:accent4>
      <a:accent5>
        <a:srgbClr val="CE8439"/>
      </a:accent5>
      <a:accent6>
        <a:srgbClr val="CF3A2A"/>
      </a:accent6>
      <a:hlink>
        <a:srgbClr val="D06853"/>
      </a:hlink>
      <a:folHlink>
        <a:srgbClr val="B67779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75126FD-8B44-46F3-BEB2-D5456E769196}">
  <ds:schemaRefs>
    <ds:schemaRef ds:uri="http://schemas.microsoft.com/office/2006/documentManagement/types"/>
    <ds:schemaRef ds:uri="71af3243-3dd4-4a8d-8c0d-dd76da1f02a5"/>
    <ds:schemaRef ds:uri="http://schemas.microsoft.com/sharepoint/v3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metadata/properties"/>
    <ds:schemaRef ds:uri="230e9df3-be65-4c73-a93b-d1236ebd677e"/>
    <ds:schemaRef ds:uri="16c05727-aa75-4e4a-9b5f-8a80a1165891"/>
  </ds:schemaRefs>
</ds:datastoreItem>
</file>

<file path=customXml/itemProps2.xml><?xml version="1.0" encoding="utf-8"?>
<ds:datastoreItem xmlns:ds="http://schemas.openxmlformats.org/officeDocument/2006/customXml" ds:itemID="{170C3F92-C0AD-4E73-8A22-9D413A456B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21420E-D6CD-4398-9C5C-03FBF68874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{996952BD-61EE-4717-A34D-176848F3091C}tf22339732_win32</Template>
  <TotalTime>2462</TotalTime>
  <Words>725</Words>
  <Application>Microsoft Office PowerPoint</Application>
  <PresentationFormat>Widescreen</PresentationFormat>
  <Paragraphs>100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Avenir Next LT Pro Light</vt:lpstr>
      <vt:lpstr>Avenir Next LT Pro Light (Body)</vt:lpstr>
      <vt:lpstr>Calibri</vt:lpstr>
      <vt:lpstr>Rockwell Nova Light</vt:lpstr>
      <vt:lpstr>Wingdings</vt:lpstr>
      <vt:lpstr>LeafVTI</vt:lpstr>
      <vt:lpstr>Employee Attrition Analysis</vt:lpstr>
      <vt:lpstr>PowerPoint Presentation</vt:lpstr>
      <vt:lpstr>Data Modeling &amp; Schema</vt:lpstr>
      <vt:lpstr>PowerPoint Presentation</vt:lpstr>
      <vt:lpstr>Key DAX Measures</vt:lpstr>
      <vt:lpstr>PowerPoint Presentation</vt:lpstr>
      <vt:lpstr>PowerPoint Presentation</vt:lpstr>
      <vt:lpstr>PowerPoint Presentation</vt:lpstr>
      <vt:lpstr>PowerPoint Presentation</vt:lpstr>
      <vt:lpstr>Insights summary</vt:lpstr>
      <vt:lpstr>BUSINESS Recommendations </vt:lpstr>
      <vt:lpstr>Q&amp;A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20912019100620</dc:creator>
  <cp:lastModifiedBy>ابراهيم   حسن يوسف</cp:lastModifiedBy>
  <cp:revision>63</cp:revision>
  <dcterms:created xsi:type="dcterms:W3CDTF">2024-10-18T22:11:03Z</dcterms:created>
  <dcterms:modified xsi:type="dcterms:W3CDTF">2025-10-17T14:37:03Z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